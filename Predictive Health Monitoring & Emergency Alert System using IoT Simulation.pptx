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aret Bold" charset="1" panose="00000000000000000000"/>
      <p:regular r:id="rId14"/>
    </p:embeddedFont>
    <p:embeddedFont>
      <p:font typeface="Garet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541691" y="4106171"/>
            <a:ext cx="13325516" cy="6662758"/>
          </a:xfrm>
          <a:custGeom>
            <a:avLst/>
            <a:gdLst/>
            <a:ahLst/>
            <a:cxnLst/>
            <a:rect r="r" b="b" t="t" l="l"/>
            <a:pathLst>
              <a:path h="6662758" w="13325516">
                <a:moveTo>
                  <a:pt x="13325516" y="0"/>
                </a:moveTo>
                <a:lnTo>
                  <a:pt x="0" y="0"/>
                </a:lnTo>
                <a:lnTo>
                  <a:pt x="0" y="6662757"/>
                </a:lnTo>
                <a:lnTo>
                  <a:pt x="13325516" y="6662757"/>
                </a:lnTo>
                <a:lnTo>
                  <a:pt x="133255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6215" y="0"/>
            <a:ext cx="4143375" cy="4143375"/>
          </a:xfrm>
          <a:custGeom>
            <a:avLst/>
            <a:gdLst/>
            <a:ahLst/>
            <a:cxnLst/>
            <a:rect r="r" b="b" t="t" l="l"/>
            <a:pathLst>
              <a:path h="4143375" w="4143375">
                <a:moveTo>
                  <a:pt x="0" y="0"/>
                </a:moveTo>
                <a:lnTo>
                  <a:pt x="4143375" y="0"/>
                </a:lnTo>
                <a:lnTo>
                  <a:pt x="4143375" y="4143375"/>
                </a:lnTo>
                <a:lnTo>
                  <a:pt x="0" y="4143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3102" y="495668"/>
            <a:ext cx="12498979" cy="309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7"/>
              </a:lnSpc>
            </a:pPr>
            <a:r>
              <a:rPr lang="en-US" sz="5897" spc="-288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Predictive Health Monitoring &amp; Emergency Alert System using IoT Simulation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43430" y="4067175"/>
            <a:ext cx="10703418" cy="552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3"/>
              </a:lnSpc>
            </a:pPr>
            <a:r>
              <a:rPr lang="en-US" sz="4273" spc="-20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Team name:- Thunders</a:t>
            </a:r>
          </a:p>
          <a:p>
            <a:pPr algn="l">
              <a:lnSpc>
                <a:spcPts val="5983"/>
              </a:lnSpc>
            </a:pPr>
            <a:r>
              <a:rPr lang="en-US" sz="4273" spc="-20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Presented by </a:t>
            </a:r>
          </a:p>
          <a:p>
            <a:pPr algn="l">
              <a:lnSpc>
                <a:spcPts val="5983"/>
              </a:lnSpc>
            </a:pPr>
            <a:r>
              <a:rPr lang="en-US" sz="4273" spc="-20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Amith gowda</a:t>
            </a:r>
          </a:p>
          <a:p>
            <a:pPr algn="l">
              <a:lnSpc>
                <a:spcPts val="5507"/>
              </a:lnSpc>
            </a:pPr>
            <a:r>
              <a:rPr lang="en-US" sz="3933" spc="-192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Annapurna pattar</a:t>
            </a:r>
          </a:p>
          <a:p>
            <a:pPr algn="l">
              <a:lnSpc>
                <a:spcPts val="5507"/>
              </a:lnSpc>
            </a:pPr>
            <a:r>
              <a:rPr lang="en-US" sz="3933" spc="-192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Tejashwini</a:t>
            </a:r>
          </a:p>
          <a:p>
            <a:pPr algn="l">
              <a:lnSpc>
                <a:spcPts val="5189"/>
              </a:lnSpc>
            </a:pPr>
            <a:r>
              <a:rPr lang="en-US" sz="3706" spc="-181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Nandan gowda</a:t>
            </a:r>
          </a:p>
          <a:p>
            <a:pPr algn="l">
              <a:lnSpc>
                <a:spcPts val="1027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252787" y="2251787"/>
            <a:ext cx="10287000" cy="5783425"/>
          </a:xfrm>
          <a:custGeom>
            <a:avLst/>
            <a:gdLst/>
            <a:ahLst/>
            <a:cxnLst/>
            <a:rect r="r" b="b" t="t" l="l"/>
            <a:pathLst>
              <a:path h="5783425" w="10287000">
                <a:moveTo>
                  <a:pt x="0" y="0"/>
                </a:moveTo>
                <a:lnTo>
                  <a:pt x="10287000" y="0"/>
                </a:lnTo>
                <a:lnTo>
                  <a:pt x="10287000" y="5783426"/>
                </a:lnTo>
                <a:lnTo>
                  <a:pt x="0" y="5783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25130" y="-2361024"/>
            <a:ext cx="4958889" cy="4958889"/>
          </a:xfrm>
          <a:custGeom>
            <a:avLst/>
            <a:gdLst/>
            <a:ahLst/>
            <a:cxnLst/>
            <a:rect r="r" b="b" t="t" l="l"/>
            <a:pathLst>
              <a:path h="4958889" w="4958889">
                <a:moveTo>
                  <a:pt x="0" y="0"/>
                </a:moveTo>
                <a:lnTo>
                  <a:pt x="4958889" y="0"/>
                </a:lnTo>
                <a:lnTo>
                  <a:pt x="4958889" y="4958889"/>
                </a:lnTo>
                <a:lnTo>
                  <a:pt x="0" y="4958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45794"/>
            <a:ext cx="7503762" cy="100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spc="-293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7180" y="2824339"/>
            <a:ext cx="10899286" cy="616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85261" indent="-492631" lvl="1">
              <a:lnSpc>
                <a:spcPts val="6388"/>
              </a:lnSpc>
              <a:buFont typeface="Arial"/>
              <a:buChar char="•"/>
            </a:pPr>
            <a:r>
              <a:rPr lang="en-US" sz="4563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 continuous health monitoring at home</a:t>
            </a:r>
          </a:p>
          <a:p>
            <a:pPr algn="just" marL="985261" indent="-492631" lvl="1">
              <a:lnSpc>
                <a:spcPts val="6388"/>
              </a:lnSpc>
              <a:buFont typeface="Arial"/>
              <a:buChar char="•"/>
            </a:pPr>
            <a:r>
              <a:rPr lang="en-US" sz="4563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Delay in emergency response</a:t>
            </a:r>
          </a:p>
          <a:p>
            <a:pPr algn="just" marL="985261" indent="-492631" lvl="1">
              <a:lnSpc>
                <a:spcPts val="6388"/>
              </a:lnSpc>
              <a:buFont typeface="Arial"/>
              <a:buChar char="•"/>
            </a:pPr>
            <a:r>
              <a:rPr lang="en-US" sz="4563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Critical conditions not detected early</a:t>
            </a:r>
          </a:p>
          <a:p>
            <a:pPr algn="just" marL="985261" indent="-492631" lvl="1">
              <a:lnSpc>
                <a:spcPts val="6388"/>
              </a:lnSpc>
              <a:buFont typeface="Arial"/>
              <a:buChar char="•"/>
            </a:pPr>
            <a:r>
              <a:rPr lang="en-US" sz="4563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Risk for elderly &amp; patients</a:t>
            </a:r>
          </a:p>
          <a:p>
            <a:pPr algn="just">
              <a:lnSpc>
                <a:spcPts val="1087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4714" y="-988572"/>
            <a:ext cx="8034430" cy="10043037"/>
          </a:xfrm>
          <a:custGeom>
            <a:avLst/>
            <a:gdLst/>
            <a:ahLst/>
            <a:cxnLst/>
            <a:rect r="r" b="b" t="t" l="l"/>
            <a:pathLst>
              <a:path h="10043037" w="8034430">
                <a:moveTo>
                  <a:pt x="0" y="0"/>
                </a:moveTo>
                <a:lnTo>
                  <a:pt x="8034429" y="0"/>
                </a:lnTo>
                <a:lnTo>
                  <a:pt x="8034429" y="10043037"/>
                </a:lnTo>
                <a:lnTo>
                  <a:pt x="0" y="10043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80794" y="7258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8095" y="876300"/>
            <a:ext cx="9055376" cy="140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79"/>
              </a:lnSpc>
            </a:pPr>
            <a:r>
              <a:rPr lang="en-US" sz="8199" spc="-401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5702" y="3064820"/>
            <a:ext cx="12922786" cy="406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73510" indent="-536755" lvl="1">
              <a:lnSpc>
                <a:spcPts val="6961"/>
              </a:lnSpc>
              <a:buFont typeface="Arial"/>
              <a:buChar char="•"/>
            </a:pPr>
            <a:r>
              <a:rPr lang="en-US" sz="4972" spc="-24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IoT-based smart monitoring system</a:t>
            </a:r>
          </a:p>
          <a:p>
            <a:pPr algn="just" marL="1073510" indent="-536755" lvl="1">
              <a:lnSpc>
                <a:spcPts val="6961"/>
              </a:lnSpc>
              <a:buFont typeface="Arial"/>
              <a:buChar char="•"/>
            </a:pPr>
            <a:r>
              <a:rPr lang="en-US" sz="4972" spc="-24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Real-time health data collection</a:t>
            </a:r>
          </a:p>
          <a:p>
            <a:pPr algn="just" marL="1073510" indent="-536755" lvl="1">
              <a:lnSpc>
                <a:spcPts val="6961"/>
              </a:lnSpc>
              <a:buFont typeface="Arial"/>
              <a:buChar char="•"/>
            </a:pPr>
            <a:r>
              <a:rPr lang="en-US" sz="4972" spc="-24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Predicts abnormal conditions</a:t>
            </a:r>
          </a:p>
          <a:p>
            <a:pPr algn="just" marL="1073510" indent="-536755" lvl="1">
              <a:lnSpc>
                <a:spcPts val="6961"/>
              </a:lnSpc>
              <a:buFont typeface="Arial"/>
              <a:buChar char="•"/>
            </a:pPr>
            <a:r>
              <a:rPr lang="en-US" sz="4972" spc="-24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Sends instant emergency alerts</a:t>
            </a:r>
          </a:p>
          <a:p>
            <a:pPr algn="just">
              <a:lnSpc>
                <a:spcPts val="427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4714" y="-988572"/>
            <a:ext cx="8034430" cy="10043037"/>
          </a:xfrm>
          <a:custGeom>
            <a:avLst/>
            <a:gdLst/>
            <a:ahLst/>
            <a:cxnLst/>
            <a:rect r="r" b="b" t="t" l="l"/>
            <a:pathLst>
              <a:path h="10043037" w="8034430">
                <a:moveTo>
                  <a:pt x="0" y="0"/>
                </a:moveTo>
                <a:lnTo>
                  <a:pt x="8034429" y="0"/>
                </a:lnTo>
                <a:lnTo>
                  <a:pt x="8034429" y="10043037"/>
                </a:lnTo>
                <a:lnTo>
                  <a:pt x="0" y="10043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80794" y="7258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76677"/>
            <a:ext cx="9702725" cy="1177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0"/>
              </a:lnSpc>
            </a:pPr>
            <a:r>
              <a:rPr lang="en-US" sz="6893" spc="-33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1130" y="2678462"/>
            <a:ext cx="14282579" cy="663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59"/>
              </a:lnSpc>
            </a:pPr>
            <a:r>
              <a:rPr lang="en-US" sz="5399" spc="-2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Flow:</a:t>
            </a:r>
          </a:p>
          <a:p>
            <a:pPr algn="just">
              <a:lnSpc>
                <a:spcPts val="7559"/>
              </a:lnSpc>
            </a:pPr>
            <a:r>
              <a:rPr lang="en-US" sz="5399" spc="-2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Sensors → Microcontroller → Cloud → Analysis → Alert</a:t>
            </a:r>
          </a:p>
          <a:p>
            <a:pPr algn="just" marL="1165845" indent="-582923" lvl="1">
              <a:lnSpc>
                <a:spcPts val="7559"/>
              </a:lnSpc>
              <a:buFont typeface="Arial"/>
              <a:buChar char="•"/>
            </a:pPr>
            <a:r>
              <a:rPr lang="en-US" sz="5399" spc="-2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Sensors collect data</a:t>
            </a:r>
          </a:p>
          <a:p>
            <a:pPr algn="just" marL="1165845" indent="-582923" lvl="1">
              <a:lnSpc>
                <a:spcPts val="7559"/>
              </a:lnSpc>
              <a:buFont typeface="Arial"/>
              <a:buChar char="•"/>
            </a:pPr>
            <a:r>
              <a:rPr lang="en-US" sz="5399" spc="-2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Cloud stores &amp; processes</a:t>
            </a:r>
          </a:p>
          <a:p>
            <a:pPr algn="just" marL="1165845" indent="-582923" lvl="1">
              <a:lnSpc>
                <a:spcPts val="7559"/>
              </a:lnSpc>
              <a:buFont typeface="Arial"/>
              <a:buChar char="•"/>
            </a:pPr>
            <a:r>
              <a:rPr lang="en-US" sz="5399" spc="-2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Alerts sent to users</a:t>
            </a:r>
          </a:p>
          <a:p>
            <a:pPr algn="just">
              <a:lnSpc>
                <a:spcPts val="75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252787" y="2251787"/>
            <a:ext cx="10287000" cy="5783425"/>
          </a:xfrm>
          <a:custGeom>
            <a:avLst/>
            <a:gdLst/>
            <a:ahLst/>
            <a:cxnLst/>
            <a:rect r="r" b="b" t="t" l="l"/>
            <a:pathLst>
              <a:path h="5783425" w="10287000">
                <a:moveTo>
                  <a:pt x="0" y="0"/>
                </a:moveTo>
                <a:lnTo>
                  <a:pt x="10287000" y="0"/>
                </a:lnTo>
                <a:lnTo>
                  <a:pt x="10287000" y="5783426"/>
                </a:lnTo>
                <a:lnTo>
                  <a:pt x="0" y="5783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25130" y="-2361024"/>
            <a:ext cx="4958889" cy="4958889"/>
          </a:xfrm>
          <a:custGeom>
            <a:avLst/>
            <a:gdLst/>
            <a:ahLst/>
            <a:cxnLst/>
            <a:rect r="r" b="b" t="t" l="l"/>
            <a:pathLst>
              <a:path h="4958889" w="4958889">
                <a:moveTo>
                  <a:pt x="0" y="0"/>
                </a:moveTo>
                <a:lnTo>
                  <a:pt x="4958889" y="0"/>
                </a:lnTo>
                <a:lnTo>
                  <a:pt x="4958889" y="4958889"/>
                </a:lnTo>
                <a:lnTo>
                  <a:pt x="0" y="4958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04222"/>
            <a:ext cx="7809705" cy="1374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7"/>
              </a:lnSpc>
            </a:pPr>
            <a:r>
              <a:rPr lang="en-US" sz="8041" spc="-394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Components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82204"/>
            <a:ext cx="9676879" cy="526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62184" indent="-481092" lvl="1">
              <a:lnSpc>
                <a:spcPts val="6239"/>
              </a:lnSpc>
              <a:buFont typeface="Arial"/>
              <a:buChar char="•"/>
            </a:pPr>
            <a:r>
              <a:rPr lang="en-US" sz="4456" spc="-2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Heart Rate Sensor </a:t>
            </a:r>
          </a:p>
          <a:p>
            <a:pPr algn="just" marL="962184" indent="-481092" lvl="1">
              <a:lnSpc>
                <a:spcPts val="6239"/>
              </a:lnSpc>
              <a:buFont typeface="Arial"/>
              <a:buChar char="•"/>
            </a:pPr>
            <a:r>
              <a:rPr lang="en-US" sz="4456" spc="-2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Temperature Sensor </a:t>
            </a:r>
          </a:p>
          <a:p>
            <a:pPr algn="just" marL="962184" indent="-481092" lvl="1">
              <a:lnSpc>
                <a:spcPts val="6239"/>
              </a:lnSpc>
              <a:buFont typeface="Arial"/>
              <a:buChar char="•"/>
            </a:pPr>
            <a:r>
              <a:rPr lang="en-US" sz="4456" spc="-2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SpO₂ Sensor</a:t>
            </a:r>
          </a:p>
          <a:p>
            <a:pPr algn="just" marL="962184" indent="-481092" lvl="1">
              <a:lnSpc>
                <a:spcPts val="6239"/>
              </a:lnSpc>
              <a:buFont typeface="Arial"/>
              <a:buChar char="•"/>
            </a:pPr>
            <a:r>
              <a:rPr lang="en-US" sz="4456" spc="-2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Arduino / ESP8266</a:t>
            </a:r>
          </a:p>
          <a:p>
            <a:pPr algn="just" marL="962184" indent="-481092" lvl="1">
              <a:lnSpc>
                <a:spcPts val="6239"/>
              </a:lnSpc>
              <a:buFont typeface="Arial"/>
              <a:buChar char="•"/>
            </a:pPr>
            <a:r>
              <a:rPr lang="en-US" sz="4456" spc="-2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Wi-Fi Module</a:t>
            </a:r>
          </a:p>
          <a:p>
            <a:pPr algn="just" marL="962184" indent="-481092" lvl="1">
              <a:lnSpc>
                <a:spcPts val="6239"/>
              </a:lnSpc>
              <a:buFont typeface="Arial"/>
              <a:buChar char="•"/>
            </a:pPr>
            <a:r>
              <a:rPr lang="en-US" sz="4456" spc="-2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Cloud (ThingSpeak)</a:t>
            </a:r>
          </a:p>
          <a:p>
            <a:pPr algn="just">
              <a:lnSpc>
                <a:spcPts val="41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803005"/>
            <a:ext cx="578767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spc="-132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\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252787" y="2251787"/>
            <a:ext cx="10287000" cy="5783425"/>
          </a:xfrm>
          <a:custGeom>
            <a:avLst/>
            <a:gdLst/>
            <a:ahLst/>
            <a:cxnLst/>
            <a:rect r="r" b="b" t="t" l="l"/>
            <a:pathLst>
              <a:path h="5783425" w="10287000">
                <a:moveTo>
                  <a:pt x="0" y="0"/>
                </a:moveTo>
                <a:lnTo>
                  <a:pt x="10287000" y="0"/>
                </a:lnTo>
                <a:lnTo>
                  <a:pt x="10287000" y="5783426"/>
                </a:lnTo>
                <a:lnTo>
                  <a:pt x="0" y="5783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25130" y="-2361024"/>
            <a:ext cx="4958889" cy="4958889"/>
          </a:xfrm>
          <a:custGeom>
            <a:avLst/>
            <a:gdLst/>
            <a:ahLst/>
            <a:cxnLst/>
            <a:rect r="r" b="b" t="t" l="l"/>
            <a:pathLst>
              <a:path h="4958889" w="4958889">
                <a:moveTo>
                  <a:pt x="0" y="0"/>
                </a:moveTo>
                <a:lnTo>
                  <a:pt x="4958889" y="0"/>
                </a:lnTo>
                <a:lnTo>
                  <a:pt x="4958889" y="4958889"/>
                </a:lnTo>
                <a:lnTo>
                  <a:pt x="0" y="4958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02701" y="866775"/>
            <a:ext cx="7760230" cy="140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10"/>
              </a:lnSpc>
            </a:pPr>
            <a:r>
              <a:rPr lang="en-US" sz="8150" spc="-3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Working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7097" y="3402312"/>
            <a:ext cx="13409985" cy="450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73906" indent="-586953" lvl="1">
              <a:lnSpc>
                <a:spcPts val="7612"/>
              </a:lnSpc>
              <a:buFont typeface="Arial"/>
              <a:buChar char="•"/>
            </a:pPr>
            <a:r>
              <a:rPr lang="en-US" sz="5437" spc="-2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Sensors monitor patient health</a:t>
            </a:r>
          </a:p>
          <a:p>
            <a:pPr algn="just" marL="1173906" indent="-586953" lvl="1">
              <a:lnSpc>
                <a:spcPts val="7612"/>
              </a:lnSpc>
              <a:buFont typeface="Arial"/>
              <a:buChar char="•"/>
            </a:pPr>
            <a:r>
              <a:rPr lang="en-US" sz="5437" spc="-2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Data sent to cloud</a:t>
            </a:r>
          </a:p>
          <a:p>
            <a:pPr algn="just" marL="1173906" indent="-586953" lvl="1">
              <a:lnSpc>
                <a:spcPts val="7612"/>
              </a:lnSpc>
              <a:buFont typeface="Arial"/>
              <a:buChar char="•"/>
            </a:pPr>
            <a:r>
              <a:rPr lang="en-US" sz="5437" spc="-2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Compared with normal values</a:t>
            </a:r>
          </a:p>
          <a:p>
            <a:pPr algn="just" marL="1001189" indent="-500594" lvl="1">
              <a:lnSpc>
                <a:spcPts val="6492"/>
              </a:lnSpc>
              <a:buFont typeface="Arial"/>
              <a:buChar char="•"/>
            </a:pPr>
            <a:r>
              <a:rPr lang="en-US" sz="4637" spc="-22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If abnormal → Alert sent via SMS/App</a:t>
            </a:r>
          </a:p>
          <a:p>
            <a:pPr algn="just">
              <a:lnSpc>
                <a:spcPts val="649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252787" y="2251787"/>
            <a:ext cx="10287000" cy="5783425"/>
          </a:xfrm>
          <a:custGeom>
            <a:avLst/>
            <a:gdLst/>
            <a:ahLst/>
            <a:cxnLst/>
            <a:rect r="r" b="b" t="t" l="l"/>
            <a:pathLst>
              <a:path h="5783425" w="10287000">
                <a:moveTo>
                  <a:pt x="0" y="0"/>
                </a:moveTo>
                <a:lnTo>
                  <a:pt x="10287000" y="0"/>
                </a:lnTo>
                <a:lnTo>
                  <a:pt x="10287000" y="5783426"/>
                </a:lnTo>
                <a:lnTo>
                  <a:pt x="0" y="5783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25130" y="-2361024"/>
            <a:ext cx="4958889" cy="4958889"/>
          </a:xfrm>
          <a:custGeom>
            <a:avLst/>
            <a:gdLst/>
            <a:ahLst/>
            <a:cxnLst/>
            <a:rect r="r" b="b" t="t" l="l"/>
            <a:pathLst>
              <a:path h="4958889" w="4958889">
                <a:moveTo>
                  <a:pt x="0" y="0"/>
                </a:moveTo>
                <a:lnTo>
                  <a:pt x="4958889" y="0"/>
                </a:lnTo>
                <a:lnTo>
                  <a:pt x="4958889" y="4958889"/>
                </a:lnTo>
                <a:lnTo>
                  <a:pt x="0" y="4958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4836" y="904875"/>
            <a:ext cx="10071280" cy="247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84"/>
              </a:lnSpc>
            </a:pPr>
            <a:r>
              <a:rPr lang="en-US" sz="7131" spc="-34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Features &amp; Advantages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3975099"/>
            <a:ext cx="13055562" cy="528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79488" indent="-539744" lvl="1">
              <a:lnSpc>
                <a:spcPts val="6999"/>
              </a:lnSpc>
              <a:buFont typeface="Arial"/>
              <a:buChar char="•"/>
            </a:pPr>
            <a:r>
              <a:rPr lang="en-US" sz="49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Real-time monitoring</a:t>
            </a:r>
          </a:p>
          <a:p>
            <a:pPr algn="just" marL="1079488" indent="-539744" lvl="1">
              <a:lnSpc>
                <a:spcPts val="6999"/>
              </a:lnSpc>
              <a:buFont typeface="Arial"/>
              <a:buChar char="•"/>
            </a:pPr>
            <a:r>
              <a:rPr lang="en-US" sz="49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Early prediction</a:t>
            </a:r>
          </a:p>
          <a:p>
            <a:pPr algn="just" marL="1079488" indent="-539744" lvl="1">
              <a:lnSpc>
                <a:spcPts val="6999"/>
              </a:lnSpc>
              <a:buFont typeface="Arial"/>
              <a:buChar char="•"/>
            </a:pPr>
            <a:r>
              <a:rPr lang="en-US" sz="49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Emergency alerts</a:t>
            </a:r>
          </a:p>
          <a:p>
            <a:pPr algn="just" marL="1079488" indent="-539744" lvl="1">
              <a:lnSpc>
                <a:spcPts val="6999"/>
              </a:lnSpc>
              <a:buFont typeface="Arial"/>
              <a:buChar char="•"/>
            </a:pPr>
            <a:r>
              <a:rPr lang="en-US" sz="49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Low-cost &amp; easy to use</a:t>
            </a:r>
          </a:p>
          <a:p>
            <a:pPr algn="just" marL="1079488" indent="-539744" lvl="1">
              <a:lnSpc>
                <a:spcPts val="6999"/>
              </a:lnSpc>
              <a:buFont typeface="Arial"/>
              <a:buChar char="•"/>
            </a:pPr>
            <a:r>
              <a:rPr lang="en-US" sz="49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Improves patient safety</a:t>
            </a:r>
          </a:p>
          <a:p>
            <a:pPr algn="just">
              <a:lnSpc>
                <a:spcPts val="69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252787" y="2251787"/>
            <a:ext cx="10287000" cy="5783425"/>
          </a:xfrm>
          <a:custGeom>
            <a:avLst/>
            <a:gdLst/>
            <a:ahLst/>
            <a:cxnLst/>
            <a:rect r="r" b="b" t="t" l="l"/>
            <a:pathLst>
              <a:path h="5783425" w="10287000">
                <a:moveTo>
                  <a:pt x="0" y="0"/>
                </a:moveTo>
                <a:lnTo>
                  <a:pt x="10287000" y="0"/>
                </a:lnTo>
                <a:lnTo>
                  <a:pt x="10287000" y="5783426"/>
                </a:lnTo>
                <a:lnTo>
                  <a:pt x="0" y="5783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25130" y="-2361024"/>
            <a:ext cx="4958889" cy="4958889"/>
          </a:xfrm>
          <a:custGeom>
            <a:avLst/>
            <a:gdLst/>
            <a:ahLst/>
            <a:cxnLst/>
            <a:rect r="r" b="b" t="t" l="l"/>
            <a:pathLst>
              <a:path h="4958889" w="4958889">
                <a:moveTo>
                  <a:pt x="0" y="0"/>
                </a:moveTo>
                <a:lnTo>
                  <a:pt x="4958889" y="0"/>
                </a:lnTo>
                <a:lnTo>
                  <a:pt x="4958889" y="4958889"/>
                </a:lnTo>
                <a:lnTo>
                  <a:pt x="0" y="4958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51140" y="895350"/>
            <a:ext cx="7503762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9"/>
              </a:lnSpc>
            </a:pPr>
            <a:r>
              <a:rPr lang="en-US" sz="6799" spc="-333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Conclusion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4086" y="2773045"/>
            <a:ext cx="11587379" cy="7002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49951" indent="-474975" lvl="1">
              <a:lnSpc>
                <a:spcPts val="6159"/>
              </a:lnSpc>
              <a:buFont typeface="Arial"/>
              <a:buChar char="•"/>
            </a:pPr>
            <a:r>
              <a:rPr lang="en-US" sz="4399" spc="-2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This system transforms healthcare from reactive to predictive</a:t>
            </a:r>
          </a:p>
          <a:p>
            <a:pPr algn="just" marL="949951" indent="-474975" lvl="1">
              <a:lnSpc>
                <a:spcPts val="6159"/>
              </a:lnSpc>
              <a:buFont typeface="Arial"/>
              <a:buChar char="•"/>
            </a:pPr>
            <a:r>
              <a:rPr lang="en-US" sz="4399" spc="-2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Enables continuous monitoring and faster emergency response</a:t>
            </a:r>
          </a:p>
          <a:p>
            <a:pPr algn="just" marL="949951" indent="-474975" lvl="1">
              <a:lnSpc>
                <a:spcPts val="6159"/>
              </a:lnSpc>
              <a:buFont typeface="Arial"/>
              <a:buChar char="•"/>
            </a:pPr>
            <a:r>
              <a:rPr lang="en-US" sz="4399" spc="-2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Scalable, low-cost, and practical solution</a:t>
            </a:r>
          </a:p>
          <a:p>
            <a:pPr algn="just" marL="949951" indent="-474975" lvl="1">
              <a:lnSpc>
                <a:spcPts val="6159"/>
              </a:lnSpc>
              <a:buFont typeface="Arial"/>
              <a:buChar char="•"/>
            </a:pPr>
            <a:r>
              <a:rPr lang="en-US" sz="4399" spc="-2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Contributes to the future of smart healthcare</a:t>
            </a:r>
          </a:p>
          <a:p>
            <a:pPr algn="just">
              <a:lnSpc>
                <a:spcPts val="629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DAHILLOsq5o</dc:identifier>
  <dcterms:modified xsi:type="dcterms:W3CDTF">2011-08-01T06:04:30Z</dcterms:modified>
  <cp:revision>1</cp:revision>
  <dc:title>Predictive Health Monitoring &amp; Emergency Alert System using IoT Simulation</dc:title>
</cp:coreProperties>
</file>